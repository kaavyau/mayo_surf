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74" r:id="rId6"/>
    <p:sldId id="272" r:id="rId7"/>
    <p:sldId id="269" r:id="rId8"/>
    <p:sldId id="259" r:id="rId9"/>
    <p:sldId id="260" r:id="rId10"/>
    <p:sldId id="270" r:id="rId11"/>
    <p:sldId id="258" r:id="rId12"/>
    <p:sldId id="273" r:id="rId13"/>
    <p:sldId id="263" r:id="rId14"/>
    <p:sldId id="264" r:id="rId15"/>
    <p:sldId id="275" r:id="rId16"/>
    <p:sldId id="266" r:id="rId17"/>
    <p:sldId id="267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CEBA"/>
    <a:srgbClr val="B6B6BD"/>
    <a:srgbClr val="8DA58B"/>
    <a:srgbClr val="BE9CD1"/>
    <a:srgbClr val="000000"/>
    <a:srgbClr val="7B7B7B"/>
    <a:srgbClr val="735A82"/>
    <a:srgbClr val="C29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D6126-9258-BA4A-281F-42BCD56825DA}" v="73" dt="2026-08-14T04:21:27.129"/>
    <p1510:client id="{DE1CEB27-AB91-448E-8701-E8213F1C4D4E}" v="51" dt="2026-08-14T13:29:15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9810" autoAdjust="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36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pala, Kaavya" userId="6354c411-3fa1-4668-abab-fbf422b8012a" providerId="ADAL" clId="{EE2CD29D-9C75-46A2-9DE4-D2D856F4D1CB}"/>
    <pc:docChg chg="custSel modSld">
      <pc:chgData name="Uppala, Kaavya" userId="6354c411-3fa1-4668-abab-fbf422b8012a" providerId="ADAL" clId="{EE2CD29D-9C75-46A2-9DE4-D2D856F4D1CB}" dt="2026-08-14T13:29:15.322" v="160" actId="5793"/>
      <pc:docMkLst>
        <pc:docMk/>
      </pc:docMkLst>
      <pc:sldChg chg="modAnim">
        <pc:chgData name="Uppala, Kaavya" userId="6354c411-3fa1-4668-abab-fbf422b8012a" providerId="ADAL" clId="{EE2CD29D-9C75-46A2-9DE4-D2D856F4D1CB}" dt="2026-08-13T21:31:04.978" v="22"/>
        <pc:sldMkLst>
          <pc:docMk/>
          <pc:sldMk cId="174994094" sldId="263"/>
        </pc:sldMkLst>
      </pc:sldChg>
      <pc:sldChg chg="modAnim">
        <pc:chgData name="Uppala, Kaavya" userId="6354c411-3fa1-4668-abab-fbf422b8012a" providerId="ADAL" clId="{EE2CD29D-9C75-46A2-9DE4-D2D856F4D1CB}" dt="2026-08-13T21:31:34.940" v="32"/>
        <pc:sldMkLst>
          <pc:docMk/>
          <pc:sldMk cId="3211913460" sldId="264"/>
        </pc:sldMkLst>
      </pc:sldChg>
      <pc:sldChg chg="modSp modAnim">
        <pc:chgData name="Uppala, Kaavya" userId="6354c411-3fa1-4668-abab-fbf422b8012a" providerId="ADAL" clId="{EE2CD29D-9C75-46A2-9DE4-D2D856F4D1CB}" dt="2026-08-14T13:29:15.322" v="160" actId="5793"/>
        <pc:sldMkLst>
          <pc:docMk/>
          <pc:sldMk cId="3681333283" sldId="267"/>
        </pc:sldMkLst>
        <pc:spChg chg="mod">
          <ac:chgData name="Uppala, Kaavya" userId="6354c411-3fa1-4668-abab-fbf422b8012a" providerId="ADAL" clId="{EE2CD29D-9C75-46A2-9DE4-D2D856F4D1CB}" dt="2026-08-14T13:29:15.322" v="160" actId="5793"/>
          <ac:spMkLst>
            <pc:docMk/>
            <pc:sldMk cId="3681333283" sldId="267"/>
            <ac:spMk id="6" creationId="{5D518E6B-85DC-97F0-A7A9-34A8172D79FE}"/>
          </ac:spMkLst>
        </pc:spChg>
      </pc:sldChg>
      <pc:sldChg chg="modNotesTx">
        <pc:chgData name="Uppala, Kaavya" userId="6354c411-3fa1-4668-abab-fbf422b8012a" providerId="ADAL" clId="{EE2CD29D-9C75-46A2-9DE4-D2D856F4D1CB}" dt="2026-08-14T13:04:33.036" v="156" actId="20577"/>
        <pc:sldMkLst>
          <pc:docMk/>
          <pc:sldMk cId="2784582010" sldId="269"/>
        </pc:sldMkLst>
      </pc:sldChg>
      <pc:sldChg chg="modAnim">
        <pc:chgData name="Uppala, Kaavya" userId="6354c411-3fa1-4668-abab-fbf422b8012a" providerId="ADAL" clId="{EE2CD29D-9C75-46A2-9DE4-D2D856F4D1CB}" dt="2026-08-13T21:29:38.143" v="7"/>
        <pc:sldMkLst>
          <pc:docMk/>
          <pc:sldMk cId="1030485678" sldId="271"/>
        </pc:sldMkLst>
      </pc:sldChg>
      <pc:sldChg chg="modAnim">
        <pc:chgData name="Uppala, Kaavya" userId="6354c411-3fa1-4668-abab-fbf422b8012a" providerId="ADAL" clId="{EE2CD29D-9C75-46A2-9DE4-D2D856F4D1CB}" dt="2026-08-13T21:32:00.147" v="36"/>
        <pc:sldMkLst>
          <pc:docMk/>
          <pc:sldMk cId="2755688734" sldId="275"/>
        </pc:sldMkLst>
      </pc:sldChg>
    </pc:docChg>
  </pc:docChgLst>
  <pc:docChgLst>
    <pc:chgData name="Uppala, Kaavya" userId="S::uppala.kaavya@mayo.edu::6354c411-3fa1-4668-abab-fbf422b8012a" providerId="AD" clId="Web-{BECD6126-9258-BA4A-281F-42BCD56825DA}"/>
    <pc:docChg chg="modSld">
      <pc:chgData name="Uppala, Kaavya" userId="S::uppala.kaavya@mayo.edu::6354c411-3fa1-4668-abab-fbf422b8012a" providerId="AD" clId="Web-{BECD6126-9258-BA4A-281F-42BCD56825DA}" dt="2026-08-14T04:21:27.129" v="75"/>
      <pc:docMkLst>
        <pc:docMk/>
      </pc:docMkLst>
      <pc:sldChg chg="addSp modSp addAnim delAnim modAnim">
        <pc:chgData name="Uppala, Kaavya" userId="S::uppala.kaavya@mayo.edu::6354c411-3fa1-4668-abab-fbf422b8012a" providerId="AD" clId="Web-{BECD6126-9258-BA4A-281F-42BCD56825DA}" dt="2026-08-14T04:21:27.129" v="75"/>
        <pc:sldMkLst>
          <pc:docMk/>
          <pc:sldMk cId="624446689" sldId="273"/>
        </pc:sldMkLst>
        <pc:spChg chg="mod">
          <ac:chgData name="Uppala, Kaavya" userId="S::uppala.kaavya@mayo.edu::6354c411-3fa1-4668-abab-fbf422b8012a" providerId="AD" clId="Web-{BECD6126-9258-BA4A-281F-42BCD56825DA}" dt="2026-08-14T04:14:49.737" v="10" actId="20577"/>
          <ac:spMkLst>
            <pc:docMk/>
            <pc:sldMk cId="624446689" sldId="273"/>
            <ac:spMk id="3" creationId="{78ABC712-51E3-6C28-D648-9F4CEF30285C}"/>
          </ac:spMkLst>
        </pc:spChg>
        <pc:picChg chg="add mod modCrop">
          <ac:chgData name="Uppala, Kaavya" userId="S::uppala.kaavya@mayo.edu::6354c411-3fa1-4668-abab-fbf422b8012a" providerId="AD" clId="Web-{BECD6126-9258-BA4A-281F-42BCD56825DA}" dt="2026-08-14T04:19:00.363" v="43" actId="1076"/>
          <ac:picMkLst>
            <pc:docMk/>
            <pc:sldMk cId="624446689" sldId="273"/>
            <ac:picMk id="4" creationId="{761E2406-5C30-A62E-6E90-5D6BD693C368}"/>
          </ac:picMkLst>
        </pc:picChg>
        <pc:picChg chg="add mod modCrop">
          <ac:chgData name="Uppala, Kaavya" userId="S::uppala.kaavya@mayo.edu::6354c411-3fa1-4668-abab-fbf422b8012a" providerId="AD" clId="Web-{BECD6126-9258-BA4A-281F-42BCD56825DA}" dt="2026-08-14T04:18:04.487" v="40" actId="1076"/>
          <ac:picMkLst>
            <pc:docMk/>
            <pc:sldMk cId="624446689" sldId="273"/>
            <ac:picMk id="5" creationId="{5604D52F-C762-2399-AE6D-0C6CA9020877}"/>
          </ac:picMkLst>
        </pc:picChg>
        <pc:picChg chg="add mod modCrop">
          <ac:chgData name="Uppala, Kaavya" userId="S::uppala.kaavya@mayo.edu::6354c411-3fa1-4668-abab-fbf422b8012a" providerId="AD" clId="Web-{BECD6126-9258-BA4A-281F-42BCD56825DA}" dt="2026-08-14T04:17:41.628" v="36" actId="1076"/>
          <ac:picMkLst>
            <pc:docMk/>
            <pc:sldMk cId="624446689" sldId="273"/>
            <ac:picMk id="6" creationId="{E28991D1-1013-2B13-0DFF-5DEBD55E7AF6}"/>
          </ac:picMkLst>
        </pc:picChg>
        <pc:picChg chg="add mod modCrop">
          <ac:chgData name="Uppala, Kaavya" userId="S::uppala.kaavya@mayo.edu::6354c411-3fa1-4668-abab-fbf422b8012a" providerId="AD" clId="Web-{BECD6126-9258-BA4A-281F-42BCD56825DA}" dt="2026-08-14T04:17:21.909" v="33" actId="1076"/>
          <ac:picMkLst>
            <pc:docMk/>
            <pc:sldMk cId="624446689" sldId="273"/>
            <ac:picMk id="7" creationId="{B097CF77-EA8D-95B7-9C44-F1ACEC2959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C8B21-D5C0-4E38-B3E4-CB5BDF413A13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7AF67-F670-495C-8642-C55D248D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2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Heat-stable FGF10 (goes from melting at 50C to 70C </a:t>
            </a:r>
            <a:r>
              <a:rPr lang="en-US" dirty="0">
                <a:sym typeface="Wingdings" panose="05000000000000000000" pitchFamily="2" charset="2"/>
              </a:rPr>
              <a:t> Done w/ Circular </a:t>
            </a:r>
            <a:r>
              <a:rPr lang="en-US" dirty="0" err="1">
                <a:sym typeface="Wingdings" panose="05000000000000000000" pitchFamily="2" charset="2"/>
              </a:rPr>
              <a:t>Diochroism</a:t>
            </a: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Nature prioritizes function over stability, but there are times when stability is important (ex: using proteins in experiments or for therapeutics)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50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a MSA to determine residues of key importance</a:t>
            </a:r>
          </a:p>
          <a:p>
            <a:r>
              <a:rPr lang="en-US" dirty="0"/>
              <a:t>Redesigned proteins, keeping high conservation residues constant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04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Yield = soluble expression; Allowing more of the structure to be redesigned meant that more properly-folded protease was observed</a:t>
            </a:r>
          </a:p>
          <a:p>
            <a:r>
              <a:rPr lang="en-US" dirty="0"/>
              <a:t>Apparent Rate = The amount of active proteins </a:t>
            </a:r>
            <a:r>
              <a:rPr lang="en-US" dirty="0">
                <a:sym typeface="Wingdings" panose="05000000000000000000" pitchFamily="2" charset="2"/>
              </a:rPr>
              <a:t> Actually fulfilling their function (50% is the </a:t>
            </a:r>
            <a:r>
              <a:rPr lang="en-US">
                <a:sym typeface="Wingdings" panose="05000000000000000000" pitchFamily="2" charset="2"/>
              </a:rPr>
              <a:t>sweet spot)</a:t>
            </a:r>
            <a:endParaRPr lang="en-US" dirty="0"/>
          </a:p>
          <a:p>
            <a:endParaRPr lang="en-US" dirty="0"/>
          </a:p>
          <a:p>
            <a:r>
              <a:rPr lang="en-US" dirty="0"/>
              <a:t>CD: Redesigning TEV led to a more heat-stable form; Went from a melting temp of around 40C to 80C</a:t>
            </a:r>
          </a:p>
          <a:p>
            <a:endParaRPr lang="en-US" dirty="0"/>
          </a:p>
          <a:p>
            <a:r>
              <a:rPr lang="en-US" dirty="0"/>
              <a:t>All this goes to show that redesigning proteins is helpful for improving stability and potentially even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71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P(</a:t>
            </a:r>
            <a:r>
              <a:rPr lang="en-US" dirty="0" err="1"/>
              <a:t>sequence|structure</a:t>
            </a:r>
            <a:r>
              <a:rPr lang="en-US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dirty="0"/>
              <a:t>Add fgf10 and fgfr2b labels</a:t>
            </a:r>
          </a:p>
          <a:p>
            <a:pPr marL="171450" indent="-171450">
              <a:buFontTx/>
              <a:buChar char="-"/>
            </a:pPr>
            <a:r>
              <a:rPr lang="en-US" dirty="0"/>
              <a:t>Trained on </a:t>
            </a:r>
            <a:r>
              <a:rPr lang="en-US" dirty="0" err="1"/>
              <a:t>pdb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Looks at the 15 closest residues and determines the most biophysically likely residues to fold into that structure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70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P(</a:t>
            </a:r>
            <a:r>
              <a:rPr lang="en-US" dirty="0" err="1"/>
              <a:t>structure|seq</a:t>
            </a:r>
            <a:r>
              <a:rPr lang="en-US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dirty="0"/>
              <a:t>Learns the statistical relationships between molecular inputs and experimentally determined structures (has a latent understanding of protein biophysics) </a:t>
            </a:r>
            <a:r>
              <a:rPr lang="en-US" dirty="0">
                <a:sym typeface="Wingdings" panose="05000000000000000000" pitchFamily="2" charset="2"/>
              </a:rPr>
              <a:t> From the UNIREF30 database</a:t>
            </a:r>
          </a:p>
          <a:p>
            <a:pPr marL="171450" indent="-1714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Infers which residues are likely to be close together, what their orientations would be, and how the different chains would interact</a:t>
            </a:r>
          </a:p>
          <a:p>
            <a:pPr marL="171450" indent="-1714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Puts all this information together into a structure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9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55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28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Visuals for the use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38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Rep1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Not just trying to pad our numbers. Chai has a latent understanding of protein biophysics, so maxing these scores should </a:t>
            </a:r>
            <a:r>
              <a:rPr lang="en-US" dirty="0" err="1"/>
              <a:t>theordically</a:t>
            </a:r>
            <a:r>
              <a:rPr lang="en-US" dirty="0"/>
              <a:t> get us closer to chai’s understanding of protein structure</a:t>
            </a:r>
          </a:p>
          <a:p>
            <a:pPr marL="171450" indent="-171450">
              <a:buFontTx/>
              <a:buChar char="-"/>
            </a:pPr>
            <a:r>
              <a:rPr lang="en-US" dirty="0"/>
              <a:t>Bad </a:t>
            </a:r>
            <a:r>
              <a:rPr lang="en-US" dirty="0" err="1"/>
              <a:t>iptm</a:t>
            </a:r>
            <a:r>
              <a:rPr lang="en-US" dirty="0"/>
              <a:t>: &lt;0.75</a:t>
            </a:r>
          </a:p>
          <a:p>
            <a:pPr marL="171450" indent="-171450">
              <a:buFontTx/>
              <a:buChar char="-"/>
            </a:pPr>
            <a:r>
              <a:rPr lang="en-US" dirty="0"/>
              <a:t>Bad </a:t>
            </a:r>
            <a:r>
              <a:rPr lang="en-US" dirty="0" err="1"/>
              <a:t>plddt</a:t>
            </a:r>
            <a:r>
              <a:rPr lang="en-US" dirty="0"/>
              <a:t>: &lt;0.9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68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Rep1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Not just trying to pad our numbers. Chai has a latent understanding of protein biophysics, so maxing these scores should </a:t>
            </a:r>
            <a:r>
              <a:rPr lang="en-US" dirty="0" err="1"/>
              <a:t>theordically</a:t>
            </a:r>
            <a:r>
              <a:rPr lang="en-US" dirty="0"/>
              <a:t> get us closer to chai’s understanding of protein structure</a:t>
            </a:r>
          </a:p>
          <a:p>
            <a:pPr marL="171450" indent="-171450">
              <a:buFontTx/>
              <a:buChar char="-"/>
            </a:pPr>
            <a:r>
              <a:rPr lang="en-US" dirty="0"/>
              <a:t>Bad </a:t>
            </a:r>
            <a:r>
              <a:rPr lang="en-US" dirty="0" err="1"/>
              <a:t>iptm</a:t>
            </a:r>
            <a:r>
              <a:rPr lang="en-US" dirty="0"/>
              <a:t>: &lt;0.75</a:t>
            </a:r>
          </a:p>
          <a:p>
            <a:pPr marL="171450" indent="-171450">
              <a:buFontTx/>
              <a:buChar char="-"/>
            </a:pPr>
            <a:r>
              <a:rPr lang="en-US" dirty="0"/>
              <a:t>Binder against CDH2</a:t>
            </a:r>
          </a:p>
          <a:p>
            <a:pPr marL="171450" indent="-171450">
              <a:buFontTx/>
              <a:buChar char="-"/>
            </a:pPr>
            <a:r>
              <a:rPr lang="en-US" dirty="0"/>
              <a:t>Show structure</a:t>
            </a:r>
          </a:p>
          <a:p>
            <a:pPr marL="171450" indent="-171450">
              <a:buFontTx/>
              <a:buChar char="-"/>
            </a:pPr>
            <a:r>
              <a:rPr lang="en-US" dirty="0"/>
              <a:t>Binder that failed filters originally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76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back to the IPTM plot to explain that this hamming increases as confidence stays good</a:t>
            </a:r>
          </a:p>
          <a:p>
            <a:r>
              <a:rPr lang="en-US" dirty="0"/>
              <a:t>Explain hamming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22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94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53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Sox9 protein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7AF67-F670-495C-8642-C55D248DDF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2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A645-77D8-FD28-0419-F26103B78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78241-2672-EC70-6494-ED8088C41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9FF39-B1C3-5F2D-F2E8-E94B379C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D0565-7BB3-772F-CBD6-EFB4844A3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3863C-A127-9408-1DBE-16CFEB08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5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6801-B966-0F3C-3166-309B4391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CA221-A3F9-86FA-BBC9-7A37F89FA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3979-7478-C99F-54BA-B0DAB833F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ABCE7-FC4D-D0AE-E90C-58755740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1F49A-60CE-7805-2364-3648A02D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8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F1BBC-E4F3-5394-6F06-60DAFF74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A340C-F2EB-024C-C6F9-96320471C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3AA7B-E251-B979-B162-ECCDFD24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94015-3723-82E5-4500-3940485E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E29D1-D211-D9F5-FF5C-C44B01C0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92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8F70-D7FE-3A05-2E17-45933901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C219-F6D5-C6F2-CF27-E11AE1A16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84C2A-C05C-E1F4-6101-514598419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4C041-D01B-3674-338D-6E5B4AE6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141B2-E6A9-8D62-9CBE-23FA553D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02125-2581-84D1-F672-8D7B5AEC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3DBF-B383-FCC4-FDCA-ABEE5CF0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D1F02-FA01-6D56-6BDA-CEB0A1A95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5745-9D81-E797-8DA2-674E18CA4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0CF13-8C9F-6CEF-DBE0-739C7227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5CF68-1E4A-C1F2-7962-5B8B490B9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CEC2C9-D6A9-9DF7-FE6E-DB7F2C4F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4CB99-4D41-5F63-6198-BDB8CFC9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924DB-A7BC-FF69-BF4A-6ABE05CA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3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8095-253D-6707-853D-0EBB1750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B74B3-29F0-094F-21FF-C7631C56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94ED1-FFE6-9C6F-59FA-DCD1FB98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9AD82-7014-2DC2-84F5-A282ACA7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4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F2858-1261-D595-6310-8A0422D1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06B88-CE6E-88EE-B99E-951CA860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9E3B4-6FAC-BFDB-3556-B5BCF8E5D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4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8FF6-AE17-5FA6-901B-751719661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6388-B70C-563B-2C09-3006ED390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E0F8D-3CC7-6473-5D6A-B0BBDC547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D693F-E395-5058-F51A-9D79FCD3F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835C9-FDC7-59B5-580B-751123DF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DA6C5-4A01-5F70-FB5D-FB797023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9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7E5A-AAE4-DBC8-C7A1-A97489E3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B5CF0-2976-DCB5-B12C-D0185A02C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7F293-88A3-6FEA-0A4B-782AD4780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6F72B-FF3D-31A2-0DAC-CAFEEEC4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22FA7-E8A0-07BF-CAFA-E075AFEA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A07B2-446B-1A29-2EA2-4B0AA9DB5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3C2E-B045-BC2B-FA91-C8267A29B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44D55-7783-89A4-158A-B4B98671D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CB8E9-8D69-2890-77E1-0612469F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F2E8B-ADBE-1905-6B63-FF8968A2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93D7A-0D32-4671-FE2F-D36ABB27C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51CFC-03E4-644A-986E-03DED3FED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E2B57-BDB2-FE91-DA88-F01DBDF68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D7F19-B32D-5367-B975-522711DCD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1B6DE-921D-909A-4CA0-C3141759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DEDF7-02C8-1D7A-F8F5-D3B0BA5F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C735E-A0B9-919C-75AA-7FA7D8A4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3B2FA-1EEE-6EAF-DE6A-01802552E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F3461-1169-0A4A-5263-A695FF156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86E50-120D-4BD7-8EFF-BF4810215C8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7AC6C-3753-5417-E944-C9AAD7B70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7B667-28BA-18EF-3E83-4B6E1A0FD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47C8E-1501-4804-BF5D-36CC0562C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3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06A7-54A7-EACD-1011-FC6724BA1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In Silico</a:t>
            </a:r>
            <a:r>
              <a:rPr lang="en-US" dirty="0"/>
              <a:t> Evolution of Proteins</a:t>
            </a:r>
            <a:endParaRPr lang="en-US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EA5A8-7832-E97B-B962-CB82F4C317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Kaavya Uppala</a:t>
            </a:r>
          </a:p>
          <a:p>
            <a:r>
              <a:rPr lang="en-US" dirty="0"/>
              <a:t>SURF Student</a:t>
            </a:r>
          </a:p>
        </p:txBody>
      </p:sp>
    </p:spTree>
    <p:extLst>
      <p:ext uri="{BB962C8B-B14F-4D97-AF65-F5344CB8AC3E}">
        <p14:creationId xmlns:p14="http://schemas.microsoft.com/office/powerpoint/2010/main" val="354308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454C-E126-1432-07F9-D5A116F4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Naturally-occurring proteins are unstable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8FCB5-2CE2-CCFB-BF7A-BB65C562D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Evolution prioritizes function over stability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BC218-F8C2-47BB-FF1F-7FF617906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76" y="2890286"/>
            <a:ext cx="3828274" cy="36025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07E92-523E-E299-05DB-AD36856257EE}"/>
              </a:ext>
            </a:extLst>
          </p:cNvPr>
          <p:cNvSpPr txBox="1"/>
          <p:nvPr/>
        </p:nvSpPr>
        <p:spPr>
          <a:xfrm>
            <a:off x="9916999" y="6492875"/>
            <a:ext cx="2158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/>
              <a:t>Czyrek</a:t>
            </a:r>
            <a:r>
              <a:rPr lang="en-US" sz="1400" dirty="0"/>
              <a:t> </a:t>
            </a:r>
            <a:r>
              <a:rPr lang="en-US" sz="1400" i="1" dirty="0"/>
              <a:t>et al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5787E-A9DE-464B-5F2D-873BFCC7FCC7}"/>
              </a:ext>
            </a:extLst>
          </p:cNvPr>
          <p:cNvSpPr txBox="1"/>
          <p:nvPr/>
        </p:nvSpPr>
        <p:spPr>
          <a:xfrm>
            <a:off x="4676775" y="3657600"/>
            <a:ext cx="67913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ym typeface="Wingdings" panose="05000000000000000000" pitchFamily="2" charset="2"/>
              </a:rPr>
              <a:t> Protein design can be used to stabilize proteins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5983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EC3F-F268-CBEB-6B56-9ED903F6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Conservation-guided protein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7D3E3-FB6B-E6EE-B636-A5F52EECE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09" y="1690688"/>
            <a:ext cx="11609581" cy="4667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AC18E8-E98E-CE02-8409-AA4705B5604A}"/>
              </a:ext>
            </a:extLst>
          </p:cNvPr>
          <p:cNvSpPr txBox="1"/>
          <p:nvPr/>
        </p:nvSpPr>
        <p:spPr>
          <a:xfrm>
            <a:off x="9700181" y="6492875"/>
            <a:ext cx="2375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Sumida </a:t>
            </a:r>
            <a:r>
              <a:rPr lang="en-US" sz="1400" i="1" dirty="0"/>
              <a:t>et al  </a:t>
            </a:r>
          </a:p>
        </p:txBody>
      </p:sp>
    </p:spTree>
    <p:extLst>
      <p:ext uri="{BB962C8B-B14F-4D97-AF65-F5344CB8AC3E}">
        <p14:creationId xmlns:p14="http://schemas.microsoft.com/office/powerpoint/2010/main" val="213573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518EB-FC1E-01F6-0E67-0CE23BA8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4" y="3960559"/>
            <a:ext cx="5676315" cy="2453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9CD13-8CDE-4CA5-54F2-B6AB368B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Stabilizing TEV Protease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7F26-2876-436C-F7C8-DBADB090B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designs for TEV protease</a:t>
            </a:r>
          </a:p>
          <a:p>
            <a:pPr lvl="1"/>
            <a:r>
              <a:rPr lang="en-US" dirty="0"/>
              <a:t>improved expression</a:t>
            </a:r>
          </a:p>
          <a:p>
            <a:pPr lvl="1"/>
            <a:r>
              <a:rPr lang="en-US" dirty="0"/>
              <a:t>better function</a:t>
            </a:r>
          </a:p>
          <a:p>
            <a:pPr lvl="1"/>
            <a:r>
              <a:rPr lang="en-US" dirty="0"/>
              <a:t>elevated melting temperatures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C3F4B-1432-6261-4ABA-CD7967C8F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1176086"/>
            <a:ext cx="5295334" cy="2791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60F1E5-1A9B-6087-087A-8E2509377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520" y="4232110"/>
            <a:ext cx="3181794" cy="21815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B00DCD-1883-958F-6652-194A0C7E6846}"/>
              </a:ext>
            </a:extLst>
          </p:cNvPr>
          <p:cNvSpPr txBox="1"/>
          <p:nvPr/>
        </p:nvSpPr>
        <p:spPr>
          <a:xfrm>
            <a:off x="9700181" y="6492875"/>
            <a:ext cx="2375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Sumida </a:t>
            </a:r>
            <a:r>
              <a:rPr lang="en-US" sz="1400" i="1" dirty="0"/>
              <a:t>et al  </a:t>
            </a:r>
          </a:p>
        </p:txBody>
      </p:sp>
    </p:spTree>
    <p:extLst>
      <p:ext uri="{BB962C8B-B14F-4D97-AF65-F5344CB8AC3E}">
        <p14:creationId xmlns:p14="http://schemas.microsoft.com/office/powerpoint/2010/main" val="278458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2C9D7F-20C4-93BD-B1B2-84DC403F5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9" t="12591" r="16747" b="15188"/>
          <a:stretch>
            <a:fillRect/>
          </a:stretch>
        </p:blipFill>
        <p:spPr>
          <a:xfrm>
            <a:off x="0" y="1820475"/>
            <a:ext cx="9572017" cy="50194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BD0700-FC17-D8A2-F93F-DA4AF7DAB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ProteinMPNN</a:t>
            </a:r>
            <a:r>
              <a:rPr lang="en-US" dirty="0"/>
              <a:t> to design sequences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3DF696-F243-572E-8C0A-CAB96B17D1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" t="41552" r="81872" b="41828"/>
          <a:stretch>
            <a:fillRect/>
          </a:stretch>
        </p:blipFill>
        <p:spPr>
          <a:xfrm>
            <a:off x="9523377" y="3590909"/>
            <a:ext cx="2668623" cy="162515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FCAFB7-2661-0E28-9940-46BD53524389}"/>
              </a:ext>
            </a:extLst>
          </p:cNvPr>
          <p:cNvSpPr txBox="1">
            <a:spLocks/>
          </p:cNvSpPr>
          <p:nvPr/>
        </p:nvSpPr>
        <p:spPr>
          <a:xfrm>
            <a:off x="838200" y="1518324"/>
            <a:ext cx="4487944" cy="4745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P(Sequence | Structure)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6BDC6F-77F9-E64D-883F-4B034074AD78}"/>
              </a:ext>
            </a:extLst>
          </p:cNvPr>
          <p:cNvSpPr txBox="1">
            <a:spLocks/>
          </p:cNvSpPr>
          <p:nvPr/>
        </p:nvSpPr>
        <p:spPr>
          <a:xfrm>
            <a:off x="622954" y="5035624"/>
            <a:ext cx="771427" cy="3608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35A82"/>
                </a:solidFill>
              </a:rPr>
              <a:t>FGF10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8690730-703C-553C-0895-8614E3D04F52}"/>
              </a:ext>
            </a:extLst>
          </p:cNvPr>
          <p:cNvSpPr txBox="1">
            <a:spLocks/>
          </p:cNvSpPr>
          <p:nvPr/>
        </p:nvSpPr>
        <p:spPr>
          <a:xfrm>
            <a:off x="1763715" y="2563157"/>
            <a:ext cx="1168021" cy="2807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B7B7B"/>
                </a:solidFill>
              </a:rPr>
              <a:t>FGFR2B</a:t>
            </a:r>
          </a:p>
        </p:txBody>
      </p:sp>
    </p:spTree>
    <p:extLst>
      <p:ext uri="{BB962C8B-B14F-4D97-AF65-F5344CB8AC3E}">
        <p14:creationId xmlns:p14="http://schemas.microsoft.com/office/powerpoint/2010/main" val="50327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C698CD-BF27-0778-B0C8-0F93E9446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" t="41552" r="81872" b="41828"/>
          <a:stretch>
            <a:fillRect/>
          </a:stretch>
        </p:blipFill>
        <p:spPr>
          <a:xfrm>
            <a:off x="102960" y="3062864"/>
            <a:ext cx="3194712" cy="19455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A7C41D-028B-F16B-F296-8698BD612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5" t="9930" r="10907" b="15035"/>
          <a:stretch>
            <a:fillRect/>
          </a:stretch>
        </p:blipFill>
        <p:spPr>
          <a:xfrm>
            <a:off x="3239304" y="1327178"/>
            <a:ext cx="8754893" cy="5357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7568C3-5816-5B99-AE2B-4ECD0FDE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Chai1 to predict structures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8349EAF-9C17-4781-890E-E9A47A7CFC60}"/>
              </a:ext>
            </a:extLst>
          </p:cNvPr>
          <p:cNvSpPr txBox="1">
            <a:spLocks/>
          </p:cNvSpPr>
          <p:nvPr/>
        </p:nvSpPr>
        <p:spPr>
          <a:xfrm>
            <a:off x="838200" y="1518324"/>
            <a:ext cx="4487944" cy="4745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P(Structure | Sequence)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35FB9AD-2F60-2713-7C5E-4C360B62998D}"/>
              </a:ext>
            </a:extLst>
          </p:cNvPr>
          <p:cNvSpPr txBox="1">
            <a:spLocks/>
          </p:cNvSpPr>
          <p:nvPr/>
        </p:nvSpPr>
        <p:spPr>
          <a:xfrm>
            <a:off x="10587204" y="2176658"/>
            <a:ext cx="1168021" cy="2807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B7B7B"/>
                </a:solidFill>
              </a:rPr>
              <a:t>FGFR2B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47DD8F-609B-57E3-30E5-383AF21A9046}"/>
              </a:ext>
            </a:extLst>
          </p:cNvPr>
          <p:cNvSpPr txBox="1">
            <a:spLocks/>
          </p:cNvSpPr>
          <p:nvPr/>
        </p:nvSpPr>
        <p:spPr>
          <a:xfrm>
            <a:off x="9361602" y="4799955"/>
            <a:ext cx="771427" cy="3608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35A82"/>
                </a:solidFill>
              </a:rPr>
              <a:t>FGF10</a:t>
            </a:r>
          </a:p>
        </p:txBody>
      </p:sp>
    </p:spTree>
    <p:extLst>
      <p:ext uri="{BB962C8B-B14F-4D97-AF65-F5344CB8AC3E}">
        <p14:creationId xmlns:p14="http://schemas.microsoft.com/office/powerpoint/2010/main" val="84331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B100-FBE5-3574-432A-A84B2ADE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Co-Optimization of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1F2A6-04D9-2DA4-09B9-CE1250083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ProteinMPNN</a:t>
            </a:r>
            <a:r>
              <a:rPr lang="en-US" dirty="0"/>
              <a:t> and Chai1 have slightly different understandings of protein biophysics</a:t>
            </a:r>
          </a:p>
          <a:p>
            <a:r>
              <a:rPr lang="en-US" dirty="0"/>
              <a:t>Co-optimizing the models will cause them to converge on a consensus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F00247B-95E4-07DB-7A9C-DD06498452BC}"/>
              </a:ext>
            </a:extLst>
          </p:cNvPr>
          <p:cNvGrpSpPr/>
          <p:nvPr/>
        </p:nvGrpSpPr>
        <p:grpSpPr>
          <a:xfrm>
            <a:off x="1007566" y="3709787"/>
            <a:ext cx="5088435" cy="2611540"/>
            <a:chOff x="1007566" y="3700360"/>
            <a:chExt cx="5088435" cy="261154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2B28E1C-4788-391F-CCDF-3E2FD1416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2" t="17215" r="50508" b="13692"/>
            <a:stretch>
              <a:fillRect/>
            </a:stretch>
          </p:blipFill>
          <p:spPr>
            <a:xfrm>
              <a:off x="2443265" y="3700360"/>
              <a:ext cx="3652736" cy="261154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272F95-0833-B87B-BF4C-AD152C746070}"/>
                </a:ext>
              </a:extLst>
            </p:cNvPr>
            <p:cNvSpPr txBox="1"/>
            <p:nvPr/>
          </p:nvSpPr>
          <p:spPr>
            <a:xfrm>
              <a:off x="1007566" y="4203127"/>
              <a:ext cx="16787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ProteinMPNN</a:t>
              </a:r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C527202-D12E-00E1-1748-D6F66939260D}"/>
              </a:ext>
            </a:extLst>
          </p:cNvPr>
          <p:cNvGrpSpPr/>
          <p:nvPr/>
        </p:nvGrpSpPr>
        <p:grpSpPr>
          <a:xfrm>
            <a:off x="6134912" y="3700360"/>
            <a:ext cx="4672451" cy="2611540"/>
            <a:chOff x="6134912" y="3700360"/>
            <a:chExt cx="4672451" cy="261154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9DE99F7-8405-163B-3058-3AC1A3B05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7" t="17215" r="1673" b="13692"/>
            <a:stretch>
              <a:fillRect/>
            </a:stretch>
          </p:blipFill>
          <p:spPr>
            <a:xfrm>
              <a:off x="6134912" y="3700360"/>
              <a:ext cx="3652736" cy="261154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D36383-4D76-8D34-2FA3-EFADEA85AA50}"/>
                </a:ext>
              </a:extLst>
            </p:cNvPr>
            <p:cNvSpPr txBox="1"/>
            <p:nvPr/>
          </p:nvSpPr>
          <p:spPr>
            <a:xfrm>
              <a:off x="9128606" y="4203127"/>
              <a:ext cx="16787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Chai1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0C22AA6-96DC-09B0-DB34-1BF8E827C51C}"/>
              </a:ext>
            </a:extLst>
          </p:cNvPr>
          <p:cNvSpPr txBox="1"/>
          <p:nvPr/>
        </p:nvSpPr>
        <p:spPr>
          <a:xfrm>
            <a:off x="5295533" y="6229465"/>
            <a:ext cx="1678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CHAMP</a:t>
            </a:r>
          </a:p>
        </p:txBody>
      </p:sp>
    </p:spTree>
    <p:extLst>
      <p:ext uri="{BB962C8B-B14F-4D97-AF65-F5344CB8AC3E}">
        <p14:creationId xmlns:p14="http://schemas.microsoft.com/office/powerpoint/2010/main" val="129220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11111E-6 L -0.14505 -1.1111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3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0 L 0.14948 0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EFA7-D75E-8679-9276-354D21A9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Chai1 + MPNN = CHAMP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C2A4A7-6FB2-B407-3882-13BBCE445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5" t="24652" r="11454" b="25107"/>
          <a:stretch>
            <a:fillRect/>
          </a:stretch>
        </p:blipFill>
        <p:spPr>
          <a:xfrm>
            <a:off x="1471032" y="1690688"/>
            <a:ext cx="9249935" cy="45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5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B543-C554-1B26-14B4-B378D063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contexts could CHAMP work 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BC712-51E3-6C28-D648-9F4CEF302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/>
              <a:t>Case 1: Homodimers</a:t>
            </a:r>
          </a:p>
          <a:p>
            <a:pPr>
              <a:lnSpc>
                <a:spcPct val="150000"/>
              </a:lnSpc>
            </a:pPr>
            <a:r>
              <a:rPr lang="en-US"/>
              <a:t>Case 2: </a:t>
            </a:r>
            <a:r>
              <a:rPr lang="en-US" i="1"/>
              <a:t>de novo</a:t>
            </a:r>
            <a:r>
              <a:rPr lang="en-US"/>
              <a:t> interface binders</a:t>
            </a:r>
          </a:p>
          <a:p>
            <a:pPr>
              <a:lnSpc>
                <a:spcPct val="150000"/>
              </a:lnSpc>
            </a:pPr>
            <a:r>
              <a:rPr lang="en-US"/>
              <a:t>Case 3: Native interface binders</a:t>
            </a:r>
          </a:p>
          <a:p>
            <a:pPr>
              <a:lnSpc>
                <a:spcPct val="150000"/>
              </a:lnSpc>
            </a:pPr>
            <a:r>
              <a:rPr lang="en-US"/>
              <a:t>Case 4:  DNA binders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/>
              <a:t>Converging on final structure based on confidence metrics</a:t>
            </a:r>
          </a:p>
          <a:p>
            <a:pPr lvl="1"/>
            <a:r>
              <a:rPr lang="en-US"/>
              <a:t>IPTM: Interface confidence</a:t>
            </a:r>
          </a:p>
          <a:p>
            <a:pPr lvl="1"/>
            <a:r>
              <a:rPr lang="en-US"/>
              <a:t>PLDDT: Fold confidence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E2406-5C30-A62E-6E90-5D6BD693C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714" t="51690" r="5238" b="14149"/>
          <a:stretch>
            <a:fillRect/>
          </a:stretch>
        </p:blipFill>
        <p:spPr>
          <a:xfrm>
            <a:off x="4228011" y="3740296"/>
            <a:ext cx="1110348" cy="971135"/>
          </a:xfrm>
          <a:prstGeom prst="rect">
            <a:avLst/>
          </a:prstGeom>
        </p:spPr>
      </p:pic>
      <p:pic>
        <p:nvPicPr>
          <p:cNvPr id="5" name="Picture 4" descr="A group of logos with text&#10;&#10;AI-generated content may be incorrect.">
            <a:extLst>
              <a:ext uri="{FF2B5EF4-FFF2-40B4-BE49-F238E27FC236}">
                <a16:creationId xmlns:a16="http://schemas.microsoft.com/office/drawing/2014/main" id="{5604D52F-C762-2399-AE6D-0C6CA90208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59365" r="49524" b="12698"/>
          <a:stretch>
            <a:fillRect/>
          </a:stretch>
        </p:blipFill>
        <p:spPr>
          <a:xfrm>
            <a:off x="5981336" y="3151777"/>
            <a:ext cx="1001480" cy="783773"/>
          </a:xfrm>
          <a:prstGeom prst="rect">
            <a:avLst/>
          </a:prstGeom>
        </p:spPr>
      </p:pic>
      <p:pic>
        <p:nvPicPr>
          <p:cNvPr id="6" name="Picture 5" descr="A group of logos with text&#10;&#10;AI-generated content may be incorrect.">
            <a:extLst>
              <a:ext uri="{FF2B5EF4-FFF2-40B4-BE49-F238E27FC236}">
                <a16:creationId xmlns:a16="http://schemas.microsoft.com/office/drawing/2014/main" id="{E28991D1-1013-2B13-0DFF-5DEBD55E7A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15" t="16667" r="7489" b="57143"/>
          <a:stretch>
            <a:fillRect/>
          </a:stretch>
        </p:blipFill>
        <p:spPr>
          <a:xfrm>
            <a:off x="6091528" y="2434043"/>
            <a:ext cx="1129498" cy="674920"/>
          </a:xfrm>
          <a:prstGeom prst="rect">
            <a:avLst/>
          </a:prstGeom>
        </p:spPr>
      </p:pic>
      <p:pic>
        <p:nvPicPr>
          <p:cNvPr id="7" name="Picture 6" descr="A group of logos with text&#10;&#10;AI-generated content may be incorrect.">
            <a:extLst>
              <a:ext uri="{FF2B5EF4-FFF2-40B4-BE49-F238E27FC236}">
                <a16:creationId xmlns:a16="http://schemas.microsoft.com/office/drawing/2014/main" id="{B097CF77-EA8D-95B7-9C44-F1ACEC2959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36" t="17714" r="55238" b="56815"/>
          <a:stretch>
            <a:fillRect/>
          </a:stretch>
        </p:blipFill>
        <p:spPr>
          <a:xfrm>
            <a:off x="4404357" y="1820817"/>
            <a:ext cx="1023256" cy="71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4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54D5EEF-FE9E-F72C-DC52-70BFB37A2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0" t="15937" r="26875" b="15354"/>
          <a:stretch>
            <a:fillRect/>
          </a:stretch>
        </p:blipFill>
        <p:spPr>
          <a:xfrm>
            <a:off x="8360875" y="116131"/>
            <a:ext cx="3232350" cy="21194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8977DC-B7EB-191E-77A7-9AB2A304A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1: Homodimers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21EF2D-BD43-9A7B-BAA1-E3B11342D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20" y="3182449"/>
            <a:ext cx="5115408" cy="28920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69F0BA-067F-27FA-9B90-9DA81B3896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219" y="3137026"/>
            <a:ext cx="5115409" cy="293743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02A73CE-2CA2-9053-401C-B791ABE1E760}"/>
              </a:ext>
            </a:extLst>
          </p:cNvPr>
          <p:cNvSpPr txBox="1">
            <a:spLocks/>
          </p:cNvSpPr>
          <p:nvPr/>
        </p:nvSpPr>
        <p:spPr>
          <a:xfrm>
            <a:off x="838200" y="1881188"/>
            <a:ext cx="10515600" cy="933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IPTM improves, then plateaus</a:t>
            </a:r>
          </a:p>
          <a:p>
            <a:r>
              <a:rPr lang="en-US" sz="2600" dirty="0"/>
              <a:t>PLDDT improves, despite not being the convergence metric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6D680-61C8-32AE-DDC0-646EC66566E5}"/>
              </a:ext>
            </a:extLst>
          </p:cNvPr>
          <p:cNvSpPr txBox="1"/>
          <p:nvPr/>
        </p:nvSpPr>
        <p:spPr>
          <a:xfrm>
            <a:off x="10593100" y="1712379"/>
            <a:ext cx="1000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DA58B"/>
                </a:solidFill>
              </a:rPr>
              <a:t>initial</a:t>
            </a:r>
            <a:endParaRPr lang="en-US" sz="1400" dirty="0">
              <a:solidFill>
                <a:srgbClr val="BE9CD1"/>
              </a:solidFill>
            </a:endParaRPr>
          </a:p>
          <a:p>
            <a:r>
              <a:rPr lang="en-US" sz="1400" dirty="0">
                <a:solidFill>
                  <a:srgbClr val="BE9CD1"/>
                </a:solidFill>
              </a:rPr>
              <a:t>iter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BDFEA-8E4D-159A-D841-340794418668}"/>
              </a:ext>
            </a:extLst>
          </p:cNvPr>
          <p:cNvSpPr txBox="1"/>
          <p:nvPr/>
        </p:nvSpPr>
        <p:spPr>
          <a:xfrm>
            <a:off x="7534275" y="1939682"/>
            <a:ext cx="1448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RMSD = 2.44 Å</a:t>
            </a:r>
          </a:p>
        </p:txBody>
      </p:sp>
    </p:spTree>
    <p:extLst>
      <p:ext uri="{BB962C8B-B14F-4D97-AF65-F5344CB8AC3E}">
        <p14:creationId xmlns:p14="http://schemas.microsoft.com/office/powerpoint/2010/main" val="17499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D2DEA99-3EA7-0F99-E02E-4F8266E4F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1653" r="23047" b="17891"/>
          <a:stretch>
            <a:fillRect/>
          </a:stretch>
        </p:blipFill>
        <p:spPr>
          <a:xfrm>
            <a:off x="8448674" y="131791"/>
            <a:ext cx="3468609" cy="2749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47DB4-8661-B473-88A1-B419B9C2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2: </a:t>
            </a:r>
            <a:r>
              <a:rPr lang="en-US" i="1" dirty="0"/>
              <a:t>de novo</a:t>
            </a:r>
            <a:r>
              <a:rPr lang="en-US" dirty="0"/>
              <a:t> Binders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998FC3-A8D5-9955-6A8D-6893DE014888}"/>
              </a:ext>
            </a:extLst>
          </p:cNvPr>
          <p:cNvSpPr txBox="1">
            <a:spLocks/>
          </p:cNvSpPr>
          <p:nvPr/>
        </p:nvSpPr>
        <p:spPr>
          <a:xfrm>
            <a:off x="838200" y="1947863"/>
            <a:ext cx="10515600" cy="933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IPTM improves, then plateaus</a:t>
            </a:r>
          </a:p>
          <a:p>
            <a:r>
              <a:rPr lang="en-US" sz="2600" dirty="0"/>
              <a:t>PLDDT improves, despite not being the convergence metric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72C95-6634-1644-EB81-F1EC25469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45" y="3237601"/>
            <a:ext cx="5224010" cy="29997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A85B16-10D8-62D9-1A53-10FAFB7D6F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37601"/>
            <a:ext cx="5306055" cy="2999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773710-1361-C484-71BE-653B9587CE97}"/>
              </a:ext>
            </a:extLst>
          </p:cNvPr>
          <p:cNvSpPr txBox="1"/>
          <p:nvPr/>
        </p:nvSpPr>
        <p:spPr>
          <a:xfrm>
            <a:off x="10577918" y="365125"/>
            <a:ext cx="10001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DA58B"/>
                </a:solidFill>
              </a:rPr>
              <a:t>initial</a:t>
            </a:r>
            <a:endParaRPr lang="en-US" sz="1400" dirty="0">
              <a:solidFill>
                <a:srgbClr val="BE9CD1"/>
              </a:solidFill>
            </a:endParaRPr>
          </a:p>
          <a:p>
            <a:r>
              <a:rPr lang="en-US" sz="1400" dirty="0">
                <a:solidFill>
                  <a:srgbClr val="BE9CD1"/>
                </a:solidFill>
              </a:rPr>
              <a:t>iter 10</a:t>
            </a:r>
          </a:p>
          <a:p>
            <a:r>
              <a:rPr lang="en-US" sz="1400" dirty="0">
                <a:solidFill>
                  <a:srgbClr val="B6B6BD"/>
                </a:solidFill>
              </a:rPr>
              <a:t>target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7A4BA-5C48-C5E3-7327-3A5F229BB316}"/>
              </a:ext>
            </a:extLst>
          </p:cNvPr>
          <p:cNvSpPr txBox="1"/>
          <p:nvPr/>
        </p:nvSpPr>
        <p:spPr>
          <a:xfrm>
            <a:off x="10648950" y="2830096"/>
            <a:ext cx="1268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RMSD = 0.737 Å</a:t>
            </a:r>
          </a:p>
        </p:txBody>
      </p:sp>
    </p:spTree>
    <p:extLst>
      <p:ext uri="{BB962C8B-B14F-4D97-AF65-F5344CB8AC3E}">
        <p14:creationId xmlns:p14="http://schemas.microsoft.com/office/powerpoint/2010/main" val="321191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E3FC-7399-1D53-A3B2-A9380A69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CHAMP Extensively Diversifies Sequence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B0C1EF-6E0A-75CB-64AD-820EB66A1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66" y="2585631"/>
            <a:ext cx="5536577" cy="3129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42B246-BC39-8E28-0161-0BA252E4F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756" y="2585631"/>
            <a:ext cx="5536578" cy="312937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3E20C7-7168-8468-0F55-E4EB99C1F757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6619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Hamming Distance – Total number of unequal residues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7A9EC-EEBA-16F5-0E0D-4D59BEC9640D}"/>
              </a:ext>
            </a:extLst>
          </p:cNvPr>
          <p:cNvSpPr txBox="1"/>
          <p:nvPr/>
        </p:nvSpPr>
        <p:spPr>
          <a:xfrm>
            <a:off x="838200" y="5466576"/>
            <a:ext cx="194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Length = 55 residues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EE5D5A-2CE5-8E92-919B-C574677C0357}"/>
              </a:ext>
            </a:extLst>
          </p:cNvPr>
          <p:cNvSpPr txBox="1"/>
          <p:nvPr/>
        </p:nvSpPr>
        <p:spPr>
          <a:xfrm>
            <a:off x="6701921" y="5466576"/>
            <a:ext cx="194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Length = 78 residues</a:t>
            </a:r>
          </a:p>
        </p:txBody>
      </p:sp>
    </p:spTree>
    <p:extLst>
      <p:ext uri="{BB962C8B-B14F-4D97-AF65-F5344CB8AC3E}">
        <p14:creationId xmlns:p14="http://schemas.microsoft.com/office/powerpoint/2010/main" val="275568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AD4DC-B5D4-A6DC-1524-D4352B0C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0A73B-95F3-14DB-4BC0-339D7C67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3341" cy="1325563"/>
          </a:xfrm>
        </p:spPr>
        <p:txBody>
          <a:bodyPr/>
          <a:lstStyle/>
          <a:p>
            <a:r>
              <a:rPr lang="en-US" dirty="0"/>
              <a:t>Eventual multi-parameter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17F81-EF0C-0256-DD3E-4EA7101A4483}"/>
              </a:ext>
            </a:extLst>
          </p:cNvPr>
          <p:cNvSpPr txBox="1">
            <a:spLocks/>
          </p:cNvSpPr>
          <p:nvPr/>
        </p:nvSpPr>
        <p:spPr>
          <a:xfrm>
            <a:off x="838201" y="1674877"/>
            <a:ext cx="10515600" cy="7028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Currently just converging based on confidence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6260EA-F80A-C2B0-F0E1-934863DD2D7D}"/>
              </a:ext>
            </a:extLst>
          </p:cNvPr>
          <p:cNvSpPr txBox="1"/>
          <p:nvPr/>
        </p:nvSpPr>
        <p:spPr>
          <a:xfrm>
            <a:off x="1410199" y="2319281"/>
            <a:ext cx="1900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Homodimer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62DD43-AEF5-A975-DC51-3C802822CF96}"/>
              </a:ext>
            </a:extLst>
          </p:cNvPr>
          <p:cNvSpPr txBox="1"/>
          <p:nvPr/>
        </p:nvSpPr>
        <p:spPr>
          <a:xfrm>
            <a:off x="1410199" y="4518840"/>
            <a:ext cx="213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de novo</a:t>
            </a:r>
            <a:r>
              <a:rPr lang="en-US" b="1" dirty="0"/>
              <a:t> Binder</a:t>
            </a:r>
            <a:endParaRPr lang="en-US" b="1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354AD0-57B5-19D2-E12D-B915F68D0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938" y="2630126"/>
            <a:ext cx="3273268" cy="1850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F40687-CDB3-CC32-52D5-577389BC2E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034" y="2630126"/>
            <a:ext cx="3355242" cy="1896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B37872-D992-5145-1691-4C6240B35B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938" y="4849565"/>
            <a:ext cx="3348379" cy="18501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29C962-6E84-037F-FD65-1E185A220E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034" y="4849565"/>
            <a:ext cx="3272478" cy="185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7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166AFD6-494E-2805-B7F3-173CD0EC4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8" t="14104" r="25234" b="21146"/>
          <a:stretch>
            <a:fillRect/>
          </a:stretch>
        </p:blipFill>
        <p:spPr>
          <a:xfrm>
            <a:off x="7858125" y="36281"/>
            <a:ext cx="4001090" cy="2497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BEA145-DAE8-B7C0-9169-EAD5427F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3: Native Interfaces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080B0-A7F5-0C40-B1A5-6397AB17B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79" y="3164953"/>
            <a:ext cx="5303192" cy="29525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FCAEB2-5B4D-256B-358F-ADF42975FA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729" y="3072210"/>
            <a:ext cx="5303193" cy="304526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6EA168-0AF3-A008-1628-B98B1C36B2B4}"/>
              </a:ext>
            </a:extLst>
          </p:cNvPr>
          <p:cNvSpPr txBox="1">
            <a:spLocks/>
          </p:cNvSpPr>
          <p:nvPr/>
        </p:nvSpPr>
        <p:spPr>
          <a:xfrm>
            <a:off x="838200" y="1909763"/>
            <a:ext cx="10515600" cy="933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Less improvement than </a:t>
            </a:r>
            <a:r>
              <a:rPr lang="en-US" sz="2600" i="1" dirty="0"/>
              <a:t>de novo </a:t>
            </a:r>
            <a:r>
              <a:rPr lang="en-US" sz="2600" dirty="0"/>
              <a:t>designs</a:t>
            </a:r>
          </a:p>
          <a:p>
            <a:r>
              <a:rPr lang="en-US" sz="2600" dirty="0"/>
              <a:t>Results may improve if interface residues are not redesigned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18E6B-85DC-97F0-A7A9-34A8172D79FE}"/>
              </a:ext>
            </a:extLst>
          </p:cNvPr>
          <p:cNvSpPr txBox="1"/>
          <p:nvPr/>
        </p:nvSpPr>
        <p:spPr>
          <a:xfrm>
            <a:off x="11273427" y="455849"/>
            <a:ext cx="10001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DA58B"/>
                </a:solidFill>
              </a:rPr>
              <a:t>initial</a:t>
            </a:r>
            <a:endParaRPr lang="en-US" sz="1400" dirty="0">
              <a:solidFill>
                <a:srgbClr val="BE9CD1"/>
              </a:solidFill>
            </a:endParaRPr>
          </a:p>
          <a:p>
            <a:r>
              <a:rPr lang="en-US" sz="1400">
                <a:solidFill>
                  <a:srgbClr val="BE9CD1"/>
                </a:solidFill>
              </a:rPr>
              <a:t>Iter 5</a:t>
            </a:r>
            <a:endParaRPr lang="en-US" sz="1400" dirty="0">
              <a:solidFill>
                <a:srgbClr val="BE9CD1"/>
              </a:solidFill>
            </a:endParaRPr>
          </a:p>
          <a:p>
            <a:r>
              <a:rPr lang="en-US" sz="1400" dirty="0">
                <a:solidFill>
                  <a:srgbClr val="B6B6BD"/>
                </a:solidFill>
              </a:rPr>
              <a:t>target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C332AE-9497-AADB-25E8-53E8C4195250}"/>
              </a:ext>
            </a:extLst>
          </p:cNvPr>
          <p:cNvSpPr txBox="1"/>
          <p:nvPr/>
        </p:nvSpPr>
        <p:spPr>
          <a:xfrm>
            <a:off x="10706099" y="2523738"/>
            <a:ext cx="1153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RMSD = 1.18 Å</a:t>
            </a:r>
          </a:p>
        </p:txBody>
      </p:sp>
    </p:spTree>
    <p:extLst>
      <p:ext uri="{BB962C8B-B14F-4D97-AF65-F5344CB8AC3E}">
        <p14:creationId xmlns:p14="http://schemas.microsoft.com/office/powerpoint/2010/main" val="368133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7977-436F-0B8B-B165-E7A605EE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35A81-CF5F-B3D9-E45F-1DF158B23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4: DNA Binders (ex: Sox9)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Ability to constrain which residues to redesign</a:t>
            </a:r>
          </a:p>
          <a:p>
            <a:pPr lvl="1"/>
            <a:r>
              <a:rPr lang="en-US" dirty="0"/>
              <a:t>Preserve key interface residues</a:t>
            </a:r>
          </a:p>
          <a:p>
            <a:pPr lvl="1"/>
            <a:r>
              <a:rPr lang="en-US" dirty="0"/>
              <a:t>Constrain on conservation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Monte Carlo-like multi-parameter optimization to better guide design evolution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318246-1FF4-ED63-ECC1-614D64731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1" t="8310" r="26313"/>
          <a:stretch>
            <a:fillRect/>
          </a:stretch>
        </p:blipFill>
        <p:spPr>
          <a:xfrm>
            <a:off x="6193278" y="1108953"/>
            <a:ext cx="1640272" cy="169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8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97ED839248E4D96F240DC7218AAA4" ma:contentTypeVersion="9" ma:contentTypeDescription="Create a new document." ma:contentTypeScope="" ma:versionID="30fbb7efadadf5105db59d5be5a45ef7">
  <xsd:schema xmlns:xsd="http://www.w3.org/2001/XMLSchema" xmlns:xs="http://www.w3.org/2001/XMLSchema" xmlns:p="http://schemas.microsoft.com/office/2006/metadata/properties" xmlns:ns3="6702a0b3-90fe-46b1-b24b-60d4c5c96a3e" targetNamespace="http://schemas.microsoft.com/office/2006/metadata/properties" ma:root="true" ma:fieldsID="be2eb88af6a73a6d383c4507b26be67a" ns3:_="">
    <xsd:import namespace="6702a0b3-90fe-46b1-b24b-60d4c5c96a3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02a0b3-90fe-46b1-b24b-60d4c5c96a3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702a0b3-90fe-46b1-b24b-60d4c5c96a3e" xsi:nil="true"/>
  </documentManagement>
</p:properties>
</file>

<file path=customXml/itemProps1.xml><?xml version="1.0" encoding="utf-8"?>
<ds:datastoreItem xmlns:ds="http://schemas.openxmlformats.org/officeDocument/2006/customXml" ds:itemID="{CA4F4F39-1FFA-4658-BBA1-451CE56FBC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02a0b3-90fe-46b1-b24b-60d4c5c96a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2052A7-47E9-4C20-A763-273B9ABDC5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1906DF-AF81-4E4B-B122-C9AC59C4EADB}">
  <ds:schemaRefs>
    <ds:schemaRef ds:uri="http://purl.org/dc/terms/"/>
    <ds:schemaRef ds:uri="http://schemas.microsoft.com/office/2006/documentManagement/types"/>
    <ds:schemaRef ds:uri="6702a0b3-90fe-46b1-b24b-60d4c5c96a3e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990794cc-8ced-4156-9787-a1fbf819c752}" enabled="1" method="Standard" siteId="{a25fff9c-3f63-4fb2-9a8a-d9bdd0321f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2560</TotalTime>
  <Words>668</Words>
  <Application>Microsoft Office PowerPoint</Application>
  <PresentationFormat>Widescreen</PresentationFormat>
  <Paragraphs>122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In Silico Evolution of Proteins</vt:lpstr>
      <vt:lpstr>Naturally-occurring proteins are unstable</vt:lpstr>
      <vt:lpstr>Conservation-guided protein design</vt:lpstr>
      <vt:lpstr>Stabilizing TEV Protease</vt:lpstr>
      <vt:lpstr>ProteinMPNN to design sequences</vt:lpstr>
      <vt:lpstr>Chai1 to predict structures</vt:lpstr>
      <vt:lpstr>Co-Optimization of Models</vt:lpstr>
      <vt:lpstr>Chai1 + MPNN = CHAMP</vt:lpstr>
      <vt:lpstr>What contexts could CHAMP work in?</vt:lpstr>
      <vt:lpstr>Case 1: Homodimers</vt:lpstr>
      <vt:lpstr>Case 2: de novo Binders</vt:lpstr>
      <vt:lpstr>CHAMP Extensively Diversifies Sequence</vt:lpstr>
      <vt:lpstr>Eventual multi-parameter optimization</vt:lpstr>
      <vt:lpstr>Case 3: Native Interfaces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Uppala, Kaavya</dc:creator>
  <cp:lastModifiedBy>Uppala, Kaavya</cp:lastModifiedBy>
  <cp:revision>13</cp:revision>
  <dcterms:created xsi:type="dcterms:W3CDTF">2026-08-12T17:14:53Z</dcterms:created>
  <dcterms:modified xsi:type="dcterms:W3CDTF">2026-08-14T13:29:17Z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0x010100AAA97ED839248E4D96F240DC7218AAA4</vt:lpwstr>
  </property>
</Properties>
</file>